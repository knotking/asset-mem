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HomeApp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0A5FA"/>
                </a:solidFill>
                <a:latin typeface="Calibri"/>
              </a:defRPr>
            </a:pPr>
            <a:r>
              <a:t>AI-Powered Home Care &amp; Property Diagnostics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2743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9CA3AF"/>
                </a:solidFill>
                <a:latin typeface="Calibri"/>
              </a:defRPr>
            </a:pPr>
            <a:r>
              <a:t>Multi-Agent AI System  |  Google Vertex AI</a:t>
            </a:r>
          </a:p>
          <a:p>
            <a:pPr>
              <a:spcAft>
                <a:spcPts val="600"/>
              </a:spcAft>
              <a:defRPr sz="1800">
                <a:solidFill>
                  <a:srgbClr val="9CA3AF"/>
                </a:solidFill>
                <a:latin typeface="Calibri"/>
              </a:defRPr>
            </a:pPr>
            <a:r>
              <a:t>Cross-Platform  |  Mobile (iOS/Android) + Web</a:t>
            </a:r>
          </a:p>
          <a:p>
            <a:pPr>
              <a:spcAft>
                <a:spcPts val="600"/>
              </a:spcAft>
              <a:defRPr sz="1800">
                <a:solidFill>
                  <a:srgbClr val="9CA3AF"/>
                </a:solidFill>
                <a:latin typeface="Calibri"/>
              </a:defRPr>
            </a:pPr>
            <a:r>
              <a:t>Multimodal Analysis  |  Images, Videos, Documents</a:t>
            </a:r>
          </a:p>
          <a:p>
            <a:pPr>
              <a:spcAft>
                <a:spcPts val="600"/>
              </a:spcAft>
              <a:defRPr sz="1800">
                <a:solidFill>
                  <a:srgbClr val="9CA3AF"/>
                </a:solidFill>
                <a:latin typeface="Calibri"/>
              </a:defRPr>
            </a:pPr>
            <a:r>
              <a:t>Cloud-Native  |  Google Cloud Platform + Firebase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Information Overload — manuals, warranties, online resources scattered everywhere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Diagnostic Complexity — visual issues need expert analysis; repair vs replace uncertainty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Service Discovery — finding trusted local providers, comparing costs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DIY Guidance — lack of step-by-step instructions and safety assessment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Document Management — warranties and manuals misplaced when needed most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No Single Platform — homeowners juggle multiple apps, sites, and phone calls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Solution Overview — HomeApp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Analyzes multimodal inputs (photos, videos, documents) using Gemini 2.5 Flash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Retrieves relevant info from user documents and knowledge base via RAG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Recommends DIY solutions, service providers, and products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Estimates costs — DIY vs professional, location-aware pricing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Provides comprehensive warranty &amp; insurance coverage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Instant Diagnostics — AI-powered analysis in seconds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Personalized Guidance — based on your documents and location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Cost Transparency — compare DIY vs. professional service costs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Trusted Providers — authorized and highly-rated local services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Document Intelligence — your docs become searchable knowledge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Platform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solidFill>
            <a:srgbClr val="1F2A3D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Client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  <a:latin typeface="Calibri"/>
              </a:defRPr>
            </a:pPr>
            <a:r>
              <a:t>Mobile App (Expo RN)  •  Web App (Next.js)  •  Telegram Bot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solidFill>
            <a:srgbClr val="1F2A3D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Firebase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  <a:latin typeface="Calibri"/>
              </a:defRPr>
            </a:pPr>
            <a:r>
              <a:t>Authentication  •  Firestore (Real-time DB)  •  Cloud Storage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57600"/>
            <a:ext cx="10515600" cy="914400"/>
          </a:xfrm>
          <a:prstGeom prst="rect">
            <a:avLst/>
          </a:prstGeom>
          <a:solidFill>
            <a:srgbClr val="1F2A3D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API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  <a:latin typeface="Calibri"/>
              </a:defRPr>
            </a:pPr>
            <a:r>
              <a:t>FastAPI Proxy on Cloud Run  •  Request Routing  •  SSE Streaming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54880"/>
            <a:ext cx="5029200" cy="914400"/>
          </a:xfrm>
          <a:prstGeom prst="rect">
            <a:avLst/>
          </a:prstGeom>
          <a:solidFill>
            <a:srgbClr val="1F2A3D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006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AI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66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  <a:latin typeface="Calibri"/>
              </a:defRPr>
            </a:pPr>
            <a:r>
              <a:t>Vertex AI Reasoning Engine  •  Multi-Agent Orchestration  •  RAG Corpus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754880"/>
            <a:ext cx="5303520" cy="914400"/>
          </a:xfrm>
          <a:prstGeom prst="rect">
            <a:avLst/>
          </a:prstGeom>
          <a:solidFill>
            <a:srgbClr val="1F2A3D"/>
          </a:solidFill>
          <a:ln w="254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4800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72B6"/>
                </a:solidFill>
                <a:latin typeface="Calibri"/>
              </a:defRPr>
            </a:pPr>
            <a:r>
              <a:t>Workers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5166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  <a:latin typeface="Calibri"/>
              </a:defRPr>
            </a:pPr>
            <a:r>
              <a:t>Cloud Functions (Gen2)  •  Pub/Sub Triggers  •  Checkpoint Analysis  •  Metrics  •  RAG Import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5852160" y="2423160"/>
            <a:ext cx="274320" cy="13716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5852160" y="3520440"/>
            <a:ext cx="274320" cy="13716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5852160" y="4617720"/>
            <a:ext cx="274320" cy="13716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Feature: Property Checkpoints &amp; Condition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Visual Timeline — capture photos/videos of property areas over time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AI-Powered Analysis — condition scoring (0–100), damage detection, room detection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Automatic Comparison — visual diff with similarity scoring, change detection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Property Health Metrics — overall score, trend analysis, deterioration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Issue Categorization — critical, major, moderate, minor severity levels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Cost Estimates — repair/maintenance cost breakdown per issue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Async Processing — Pub/Sub + Cloud Functions, non-blocking (202 Accepted)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Real-time Updates — Firestore listeners push results to UI instantly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Features: Diagnostics, Coverage &amp; Cost Estimation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Multimodal Diagnostics — upload photos/videos → Gemini 2.5 Flash analysis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Intelligent Triage — severity assessment, urgency recommendations, follow-ups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Coverage Analysis — warranty &amp; insurance retrieval from user documents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Document Intelligence — semantic search, citations, multi-document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AI-Powered Cost Estimation (NEW) — Gemini + Google Search grounding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Location-Aware Pricing — regional multipliers (e.g. SF = 1.4×)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Service Provider Calibration — weights: 70% AI + 30% real provider data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DIY vs Professional Comparison — materials, labor, time, savings breakdown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Confidence Scoring — automatic fallback to hardcoded library when 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Features: DIY, Service Providers &amp; Document 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DIY — step-by-step repair guidance, YouTube tutorials, safety tips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Product Recommendations — curated items with pricing, vendor, reviews, links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Shopping Agent — reusable across contexts (DIY, Professional, etc.)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Service Discovery — SerpAPI + Yelp, authorized centers, ratings, contact info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Document Upload — PDFs, images, videos → auto-indexed to RAG corpus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Document Q&amp;A — ask natural language questions, get answers with citations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Knowledge Base — general RAG corpus for reference materials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Multi-Agent AI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1371600"/>
            <a:ext cx="3931920" cy="640080"/>
          </a:xfrm>
          <a:prstGeom prst="rect">
            <a:avLst/>
          </a:prstGeom>
          <a:solidFill>
            <a:srgbClr val="1F2A3D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0" y="14173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Root Property Agent (Orchestrator)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5029200" cy="502920"/>
          </a:xfrm>
          <a:prstGeom prst="rect">
            <a:avLst/>
          </a:prstGeom>
          <a:solidFill>
            <a:srgbClr val="1F2A3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11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Analysis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311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Multimodal Diagnostics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80360"/>
            <a:ext cx="5029200" cy="502920"/>
          </a:xfrm>
          <a:prstGeom prst="rect">
            <a:avLst/>
          </a:prstGeom>
          <a:solidFill>
            <a:srgbClr val="1F2A3D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05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A5FA"/>
                </a:solidFill>
                <a:latin typeface="Calibri"/>
              </a:defRPr>
            </a:pPr>
            <a:r>
              <a:t>Triage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905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Gemini 2.5 Flash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5029200" cy="502920"/>
          </a:xfrm>
          <a:prstGeom prst="rect">
            <a:avLst/>
          </a:prstGeom>
          <a:solidFill>
            <a:srgbClr val="1F2A3D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00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A5FA"/>
                </a:solidFill>
                <a:latin typeface="Calibri"/>
              </a:defRPr>
            </a:pPr>
            <a:r>
              <a:t>Coverage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500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Warranty/insurance lookup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69080"/>
            <a:ext cx="5029200" cy="502920"/>
          </a:xfrm>
          <a:prstGeom prst="rect">
            <a:avLst/>
          </a:prstGeom>
          <a:solidFill>
            <a:srgbClr val="1F2A3D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9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A5FA"/>
                </a:solidFill>
                <a:latin typeface="Calibri"/>
              </a:defRPr>
            </a:pPr>
            <a:r>
              <a:t>DIY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09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Guides + YouTube + Shopping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63440"/>
            <a:ext cx="5029200" cy="502920"/>
          </a:xfrm>
          <a:prstGeom prst="rect">
            <a:avLst/>
          </a:prstGeom>
          <a:solidFill>
            <a:srgbClr val="1F2A3D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688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A5FA"/>
                </a:solidFill>
                <a:latin typeface="Calibri"/>
              </a:defRPr>
            </a:pPr>
            <a:r>
              <a:t>Service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688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SerpAPI + Yelp providers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57800"/>
            <a:ext cx="5029200" cy="502920"/>
          </a:xfrm>
          <a:prstGeom prst="rect">
            <a:avLst/>
          </a:prstGeom>
          <a:solidFill>
            <a:srgbClr val="1F2A3D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28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A5FA"/>
                </a:solidFill>
                <a:latin typeface="Calibri"/>
              </a:defRPr>
            </a:pPr>
            <a:r>
              <a:t>Cost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283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AI cost estimation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852160"/>
            <a:ext cx="5029200" cy="502920"/>
          </a:xfrm>
          <a:prstGeom prst="rect">
            <a:avLst/>
          </a:prstGeom>
          <a:solidFill>
            <a:srgbClr val="1F2A3D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77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A5FA"/>
                </a:solidFill>
                <a:latin typeface="Calibri"/>
              </a:defRPr>
            </a:pPr>
            <a:r>
              <a:t>Shopping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877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Product recommendations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286000"/>
            <a:ext cx="5029200" cy="502920"/>
          </a:xfrm>
          <a:prstGeom prst="rect">
            <a:avLst/>
          </a:prstGeom>
          <a:solidFill>
            <a:srgbClr val="1F2A3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311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DocuLink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311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Document Retrieval &amp; Q&amp;A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880360"/>
            <a:ext cx="5029200" cy="502920"/>
          </a:xfrm>
          <a:prstGeom prst="rect">
            <a:avLst/>
          </a:prstGeom>
          <a:solidFill>
            <a:srgbClr val="1F2A3D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90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BBF24"/>
                </a:solidFill>
                <a:latin typeface="Calibri"/>
              </a:defRPr>
            </a:pPr>
            <a:r>
              <a:t>User Docs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290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User-uploaded documents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474720"/>
            <a:ext cx="5029200" cy="502920"/>
          </a:xfrm>
          <a:prstGeom prst="rect">
            <a:avLst/>
          </a:prstGeom>
          <a:solidFill>
            <a:srgbClr val="1F2A3D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3500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BBF24"/>
                </a:solidFill>
                <a:latin typeface="Calibri"/>
              </a:defRPr>
            </a:pPr>
            <a:r>
              <a:t>Knowledge Base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3500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General RAG corpus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069080"/>
            <a:ext cx="5029200" cy="502920"/>
          </a:xfrm>
          <a:prstGeom prst="rect">
            <a:avLst/>
          </a:prstGeom>
          <a:solidFill>
            <a:srgbClr val="1F2A3D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409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BBF24"/>
                </a:solidFill>
                <a:latin typeface="Calibri"/>
              </a:defRPr>
            </a:pPr>
            <a:r>
              <a:t>Checkpoint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409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Timeline queries &amp; analysis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846320"/>
            <a:ext cx="5029200" cy="502920"/>
          </a:xfrm>
          <a:prstGeom prst="rect">
            <a:avLst/>
          </a:prstGeom>
          <a:solidFill>
            <a:srgbClr val="1F2A3D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486460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Vertex AI RAG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MOBILE — React Native 0.81 · Expo SDK 54 · NativeWind · Firebase SDK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WEB — Next.js 15 · React 19 · Tailwind CSS · Radix UI · Genkit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SHARED — TypeScript · @homeapp/common · React Contexts · Firebase Config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API — FastAPI 0.116 · Python 3.11 · Uvicorn · Pydantic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AI / ML — Vertex AI Reasoning Engine · RAG Engine · Gemini 2.5 Flash · ADK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CLOUD — Cloud Run · Cloud Functions Gen2 · Cloud Storage · Pub/Sub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DATA — Firebase Auth · Firestore · Cloud Storage · Terraform · Docker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INTEGRATIONS — SerpAPI · Yelp API · YouTube API · Google Maps · Google Search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Applications — Mobile, Web &amp; Shared Package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MOBILE APP (apps/mapp) — iOS, Android, Web via Expo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Camera integration, document picker, real-time chat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Checkpoints tab with timeline, comparison slider, health metrics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YouTube embedding, Maps integration, copy/share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NativeWind styling, Firebase SDK, Gifted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WEB APP (apps/webapp) — Next.js 15, SSR + CSR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Responsive design, dark/light theme, data viz (Recharts)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Full checkpoint feature parity with mobile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Drag-and-drop upload, image carousel, interactive slider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SHARED PACKAGE (apps/common)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React Contexts (Auth, Session, Property, Checkpoint)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Firebase config, types, platform-specific adapters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Property Condition Tracking — monthly checkpoints, trend analysis, maintenance planning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HVAC System Diagnosis — photo upload → triage → warranty → DIY → providers → cost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Insurance Claim Docs — before/after checkpoints with AI-verified damage assessment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Document Q&amp;A — "What does my warranty cover?" → RAG retrieval with citations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Leak Detection &amp; Repair — video analysis → repair steps → parts → emergency plumber → cost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Preventive Maintenance — health metrics dashboard, deterioration rate, proactive alerts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Appliance Manual Lookup — "How do I reset my dishwasher?" → manual search → instructions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AI Cost Estimation — location-aware pricing, provider calibration, DIY vs Pro comparison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Deployment &amp;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Cloud Run — FastAPI proxy, auto-scaling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Cloud Functions Gen2 — checkpoint analysis, metrics aggregation, RAG import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Pub/Sub — checkpoint-analysis-topic, checkpoint-metrics-topic, user-upload-topic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Vertex AI — Agent Engine, RAG Engine, Gemini 2.5 Flash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Firebase — Auth, Firestore (real-time),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Async Pipeline: App → API → Pub/Sub → Cloud Function → Gemini → Firestore → UI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Horizontal Scaling — Cloud Run auto-scales; workers up to 10 instances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Processing Capacity — 1,000+ checkpoints/minute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Observability — OpenTelemetry, structured logging, Cloud Monitoring dashboards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CI/CD — GitHub Actions for all deploys (agent, proxy, workers, webapp, mapp)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Metrics &amp; Success Indicators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TECHNICAL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Response time &lt; 5s for triage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Checkpoint analysis &lt; 10s (async)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99.9% uptime target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10,000+ concurrent users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Room detection confidence 92%+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BUSINESS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Cost savings through DIY recommendations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Service provider conversion rate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Checkpoint creation frequency per property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Early issue detection rate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Insurance claim documentation usage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Overall condition score improvements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COMPLETED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Property Checkpoints — timeline, analysis, comparison, metrics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AI Cost Estimation — Gemini + Search grounding, location-aware pricing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SHORT-TERM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Firestore vector search for semantic checkpoint queries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Chat ↔ Checkpoint deep links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Proactive AI notifications for property changes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Enhanced multimodal &amp; batch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MEDIUM-TERM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Property mind map visualization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Professional PDF/Word report generation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Collaborative checkpoints (family &amp; contractors)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Smart home / IoT integration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LONG-TERM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Fine-tuned domain models for property analysis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Commercial property &amp; vehicle diagnostics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Insurance claim automation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Calibri"/>
              </a:defRPr>
            </a:pPr>
            <a:r>
              <a:t>  AR camera overlay &amp; haptic visualizations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HomeApp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0A5FA"/>
                </a:solidFill>
                <a:latin typeface="Calibri"/>
              </a:defRPr>
            </a:pPr>
            <a:r>
              <a:t>Transforming how homeowners manage and maintain their properties.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2743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9CA3AF"/>
                </a:solidFill>
                <a:latin typeface="Calibri"/>
              </a:defRPr>
            </a:pPr>
            <a:r>
              <a:t>Intelligent Diagnostics through multimodal AI</a:t>
            </a:r>
          </a:p>
          <a:p>
            <a:pPr>
              <a:spcAft>
                <a:spcPts val="600"/>
              </a:spcAft>
              <a:defRPr sz="1800">
                <a:solidFill>
                  <a:srgbClr val="9CA3AF"/>
                </a:solidFill>
                <a:latin typeface="Calibri"/>
              </a:defRPr>
            </a:pPr>
            <a:r>
              <a:t>Property Condition Tracking with checkpoint analysis</a:t>
            </a:r>
          </a:p>
          <a:p>
            <a:pPr>
              <a:spcAft>
                <a:spcPts val="600"/>
              </a:spcAft>
              <a:defRPr sz="1800">
                <a:solidFill>
                  <a:srgbClr val="9CA3AF"/>
                </a:solidFill>
                <a:latin typeface="Calibri"/>
              </a:defRPr>
            </a:pPr>
            <a:r>
              <a:t>Personalized Guidance via RAG-powered retrieval</a:t>
            </a:r>
          </a:p>
          <a:p>
            <a:pPr>
              <a:spcAft>
                <a:spcPts val="600"/>
              </a:spcAft>
              <a:defRPr sz="1800">
                <a:solidFill>
                  <a:srgbClr val="9CA3AF"/>
                </a:solidFill>
                <a:latin typeface="Calibri"/>
              </a:defRPr>
            </a:pPr>
            <a:r>
              <a:t>Cost Transparency with location-aware estimates</a:t>
            </a:r>
          </a:p>
          <a:p>
            <a:pPr>
              <a:spcAft>
                <a:spcPts val="600"/>
              </a:spcAft>
              <a:defRPr sz="1800">
                <a:solidFill>
                  <a:srgbClr val="9CA3AF"/>
                </a:solidFill>
                <a:latin typeface="Calibri"/>
              </a:defRPr>
            </a:pPr>
            <a:r>
              <a:t>Seamless Experience across mobile and web</a:t>
            </a:r>
          </a:p>
          <a:p>
            <a:pPr>
              <a:spcAft>
                <a:spcPts val="600"/>
              </a:spcAft>
              <a:defRPr sz="1800">
                <a:solidFill>
                  <a:srgbClr val="9CA3AF"/>
                </a:solidFill>
                <a:latin typeface="Calibri"/>
              </a:defRPr>
            </a:pPr>
            <a:r>
              <a:t>Scalable Infrastructure with async processing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