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aCHT5DGA/Oi+Vz6b1heZPFRFe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49b26e24b0_0_623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g349b26e24b0_0_623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g349b26e24b0_0_623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49b26e24b0_0_623"/>
          <p:cNvSpPr txBox="1"/>
          <p:nvPr>
            <p:ph type="ctrTitle"/>
          </p:nvPr>
        </p:nvSpPr>
        <p:spPr>
          <a:xfrm>
            <a:off x="2371725" y="840300"/>
            <a:ext cx="6331500" cy="20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g349b26e24b0_0_623"/>
          <p:cNvSpPr txBox="1"/>
          <p:nvPr>
            <p:ph idx="1" type="subTitle"/>
          </p:nvPr>
        </p:nvSpPr>
        <p:spPr>
          <a:xfrm>
            <a:off x="2390267" y="4317933"/>
            <a:ext cx="6331500" cy="16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g349b26e24b0_0_62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49b26e24b0_0_630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g349b26e24b0_0_630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g349b26e24b0_0_630"/>
          <p:cNvSpPr txBox="1"/>
          <p:nvPr>
            <p:ph type="title"/>
          </p:nvPr>
        </p:nvSpPr>
        <p:spPr>
          <a:xfrm>
            <a:off x="406425" y="2409100"/>
            <a:ext cx="8296800" cy="20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g349b26e24b0_0_63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49b26e24b0_0_635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g349b26e24b0_0_635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g349b26e24b0_0_635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g349b26e24b0_0_63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49b26e24b0_0_635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g349b26e24b0_0_63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g349b26e24b0_0_64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g349b26e24b0_0_642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49b26e24b0_0_642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g349b26e24b0_0_642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49b26e24b0_0_642"/>
          <p:cNvSpPr txBox="1"/>
          <p:nvPr>
            <p:ph idx="1" type="body"/>
          </p:nvPr>
        </p:nvSpPr>
        <p:spPr>
          <a:xfrm>
            <a:off x="2400303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349b26e24b0_0_642"/>
          <p:cNvSpPr txBox="1"/>
          <p:nvPr>
            <p:ph idx="2" type="body"/>
          </p:nvPr>
        </p:nvSpPr>
        <p:spPr>
          <a:xfrm>
            <a:off x="5650572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49b26e24b0_0_64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49b26e24b0_0_650"/>
          <p:cNvSpPr txBox="1"/>
          <p:nvPr>
            <p:ph type="title"/>
          </p:nvPr>
        </p:nvSpPr>
        <p:spPr>
          <a:xfrm>
            <a:off x="303300" y="548767"/>
            <a:ext cx="85206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g349b26e24b0_0_65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g349b26e24b0_0_653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g349b26e24b0_0_653"/>
          <p:cNvSpPr txBox="1"/>
          <p:nvPr>
            <p:ph type="title"/>
          </p:nvPr>
        </p:nvSpPr>
        <p:spPr>
          <a:xfrm>
            <a:off x="319500" y="1248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g349b26e24b0_0_653"/>
          <p:cNvSpPr txBox="1"/>
          <p:nvPr>
            <p:ph idx="1" type="body"/>
          </p:nvPr>
        </p:nvSpPr>
        <p:spPr>
          <a:xfrm>
            <a:off x="319500" y="2462405"/>
            <a:ext cx="2808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g349b26e24b0_0_65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g349b26e24b0_0_658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g349b26e24b0_0_658"/>
          <p:cNvSpPr txBox="1"/>
          <p:nvPr>
            <p:ph type="title"/>
          </p:nvPr>
        </p:nvSpPr>
        <p:spPr>
          <a:xfrm>
            <a:off x="283103" y="949521"/>
            <a:ext cx="6244200" cy="51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49b26e24b0_0_658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9b26e24b0_0_662"/>
          <p:cNvSpPr/>
          <p:nvPr/>
        </p:nvSpPr>
        <p:spPr>
          <a:xfrm>
            <a:off x="4572000" y="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g349b26e24b0_0_66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g349b26e24b0_0_662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g349b26e24b0_0_662"/>
          <p:cNvSpPr txBox="1"/>
          <p:nvPr>
            <p:ph idx="1" type="subTitle"/>
          </p:nvPr>
        </p:nvSpPr>
        <p:spPr>
          <a:xfrm>
            <a:off x="265500" y="364716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g349b26e24b0_0_662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g349b26e24b0_0_66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g349b26e24b0_0_669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g349b26e24b0_0_669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g349b26e24b0_0_669"/>
          <p:cNvSpPr txBox="1"/>
          <p:nvPr>
            <p:ph idx="1" type="body"/>
          </p:nvPr>
        </p:nvSpPr>
        <p:spPr>
          <a:xfrm>
            <a:off x="328017" y="5634700"/>
            <a:ext cx="83886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g349b26e24b0_0_66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g349b26e24b0_0_674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g349b26e24b0_0_674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g349b26e24b0_0_674"/>
          <p:cNvSpPr txBox="1"/>
          <p:nvPr>
            <p:ph hasCustomPrompt="1" type="title"/>
          </p:nvPr>
        </p:nvSpPr>
        <p:spPr>
          <a:xfrm>
            <a:off x="853950" y="1739800"/>
            <a:ext cx="74361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g349b26e24b0_0_674"/>
          <p:cNvSpPr txBox="1"/>
          <p:nvPr>
            <p:ph idx="1" type="body"/>
          </p:nvPr>
        </p:nvSpPr>
        <p:spPr>
          <a:xfrm>
            <a:off x="853950" y="3892600"/>
            <a:ext cx="74361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g349b26e24b0_0_674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9b26e24b0_0_68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9b26e24b0_0_6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g349b26e24b0_0_68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71" name="Google Shape;71;g349b26e24b0_0_6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49b26e24b0_0_6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49b26e24b0_0_6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9b26e24b0_0_619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49b26e24b0_0_619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49b26e24b0_0_61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The Problem We’re Solving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277075" y="4535650"/>
            <a:ext cx="3772500" cy="22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540" lvl="0" marL="3429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40"/>
              <a:buChar char="●"/>
            </a:pPr>
            <a:r>
              <a:rPr lang="en-US" sz="184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Traditional home inspections are manual and time-consuming</a:t>
            </a:r>
            <a:endParaRPr sz="510">
              <a:solidFill>
                <a:srgbClr val="980000"/>
              </a:solidFill>
            </a:endParaRPr>
          </a:p>
          <a:p>
            <a:pPr indent="-256540" lvl="0" marL="342900" rtl="0" algn="l">
              <a:spcBef>
                <a:spcPts val="640"/>
              </a:spcBef>
              <a:spcAft>
                <a:spcPts val="0"/>
              </a:spcAft>
              <a:buClr>
                <a:srgbClr val="980000"/>
              </a:buClr>
              <a:buSzPts val="1840"/>
              <a:buChar char="●"/>
            </a:pPr>
            <a:r>
              <a:rPr lang="en-US" sz="184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Missed defects lead to high repair costs</a:t>
            </a:r>
            <a:endParaRPr sz="510">
              <a:solidFill>
                <a:srgbClr val="980000"/>
              </a:solidFill>
            </a:endParaRPr>
          </a:p>
          <a:p>
            <a:pPr indent="-256540" lvl="0" marL="342900" rtl="0" algn="l">
              <a:spcBef>
                <a:spcPts val="640"/>
              </a:spcBef>
              <a:spcAft>
                <a:spcPts val="1200"/>
              </a:spcAft>
              <a:buClr>
                <a:srgbClr val="980000"/>
              </a:buClr>
              <a:buSzPts val="1840"/>
              <a:buChar char="●"/>
            </a:pPr>
            <a:r>
              <a:rPr lang="en-US" sz="184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No smart system to track &amp; categorize issues visually</a:t>
            </a:r>
            <a:endParaRPr sz="51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Our AI-Powered Solution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391775" y="1469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980000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Multimodal Analysis of Documents, Photos and Videos</a:t>
            </a:r>
            <a:endParaRPr sz="3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Computer Vision Pattern Detections</a:t>
            </a:r>
            <a:endParaRPr>
              <a:solidFill>
                <a:srgbClr val="980000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Automated Categorization of Issues, Severities, Fix and Costs</a:t>
            </a:r>
            <a:endParaRPr sz="3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Recommendations, Vendor Selection, Appointments Scheduler, etc</a:t>
            </a:r>
            <a:endParaRPr sz="3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